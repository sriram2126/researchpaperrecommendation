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2872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5F2EB"/>
          </a:solidFill>
          <a:ln w="12700">
            <a:solidFill>
              <a:srgbClr val="D4CF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0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Paper</a:t>
            </a:r>
            <a:r>
              <a:rPr lang="en-US" sz="1600" b="1" dirty="0">
                <a:solidFill>
                  <a:srgbClr val="C84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9144000" cy="475488"/>
          </a:xfrm>
          <a:prstGeom prst="rect">
            <a:avLst/>
          </a:prstGeom>
          <a:solidFill>
            <a:srgbClr val="EDE9DE"/>
          </a:solidFill>
          <a:ln w="12700">
            <a:solidFill>
              <a:srgbClr val="D4CF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3035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0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2.97L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7A7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PAPERS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645920" y="53035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0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TF-IDF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45920" y="7498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7A7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ALGORITHM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926080" y="53035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0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arXiv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26080" y="7498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7A7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206240" y="53035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0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ML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06240" y="7498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7A7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560320" y="1143000"/>
            <a:ext cx="4023360" cy="274320"/>
          </a:xfrm>
          <a:prstGeom prst="rect">
            <a:avLst/>
          </a:prstGeom>
          <a:solidFill>
            <a:srgbClr val="F5F2EB"/>
          </a:solidFill>
          <a:ln w="12700">
            <a:solidFill>
              <a:srgbClr val="C84B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1143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C84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 DISCOVERY ENGINE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14400" y="15087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E0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PaperLens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1371600" y="228600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84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Paper Recommender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26974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7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TF-IDF + Cosine Similarity · arXiv · Scrapy · scikit-learn · FastAPI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14400" y="3063240"/>
            <a:ext cx="7315200" cy="0"/>
          </a:xfrm>
          <a:prstGeom prst="line">
            <a:avLst/>
          </a:prstGeom>
          <a:noFill/>
          <a:ln w="12700">
            <a:solidFill>
              <a:srgbClr val="D4CF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218688"/>
            <a:ext cx="3794760" cy="749808"/>
          </a:xfrm>
          <a:prstGeom prst="rect">
            <a:avLst/>
          </a:prstGeom>
          <a:solidFill>
            <a:srgbClr val="FAF8F3"/>
          </a:solidFill>
          <a:ln w="12700">
            <a:solidFill>
              <a:srgbClr val="D4CF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218688"/>
            <a:ext cx="50292" cy="749808"/>
          </a:xfrm>
          <a:prstGeom prst="rect">
            <a:avLst/>
          </a:prstGeom>
          <a:solidFill>
            <a:srgbClr val="2F6BC8"/>
          </a:solidFill>
          <a:ln w="12700">
            <a:solidFill>
              <a:srgbClr val="2F6B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2644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F6B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58368" y="345643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query  e.g. "graph neural networks"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92040" y="3218688"/>
            <a:ext cx="3794760" cy="749808"/>
          </a:xfrm>
          <a:prstGeom prst="rect">
            <a:avLst/>
          </a:prstGeom>
          <a:solidFill>
            <a:srgbClr val="FAF8F3"/>
          </a:solidFill>
          <a:ln w="12700">
            <a:solidFill>
              <a:srgbClr val="D4CFC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92040" y="3218688"/>
            <a:ext cx="50292" cy="749808"/>
          </a:xfrm>
          <a:prstGeom prst="rect">
            <a:avLst/>
          </a:prstGeom>
          <a:solidFill>
            <a:srgbClr val="C84B2F"/>
          </a:solidFill>
          <a:ln w="12700">
            <a:solidFill>
              <a:srgbClr val="C84B2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93208" y="32644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84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093208" y="345643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Top-N ranked arXiv papers with cosine similarity scores + PDF links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12700">
            <a:solidFill>
              <a:srgbClr val="D4CF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18795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7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Kartavya Gupta — AD24B1028     ·     Vadthyavath Sriram — AD24B1064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E8E3D8"/>
          </a:solidFill>
          <a:ln w="12700">
            <a:solidFill>
              <a:srgbClr val="D4CFC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" y="4590288"/>
            <a:ext cx="1417320" cy="530352"/>
          </a:xfrm>
          <a:prstGeom prst="rect">
            <a:avLst/>
          </a:prstGeom>
          <a:solidFill>
            <a:srgbClr val="F5F2EB"/>
          </a:solidFill>
          <a:ln w="12700">
            <a:solidFill>
              <a:srgbClr val="D4CFC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152" y="4590288"/>
            <a:ext cx="1417320" cy="91440"/>
          </a:xfrm>
          <a:prstGeom prst="rect">
            <a:avLst/>
          </a:prstGeom>
          <a:solidFill>
            <a:srgbClr val="2F6BC8"/>
          </a:solidFill>
          <a:ln w="12700">
            <a:solidFill>
              <a:srgbClr val="2F6B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6304" y="470001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0E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Scraping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586484" y="4590288"/>
            <a:ext cx="1417320" cy="530352"/>
          </a:xfrm>
          <a:prstGeom prst="rect">
            <a:avLst/>
          </a:prstGeom>
          <a:solidFill>
            <a:srgbClr val="F5F2EB"/>
          </a:solidFill>
          <a:ln w="12700">
            <a:solidFill>
              <a:srgbClr val="D4CFC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586484" y="4590288"/>
            <a:ext cx="1417320" cy="9144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59636" y="470001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0E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Preprocessing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099816" y="4590288"/>
            <a:ext cx="1417320" cy="530352"/>
          </a:xfrm>
          <a:prstGeom prst="rect">
            <a:avLst/>
          </a:prstGeom>
          <a:solidFill>
            <a:srgbClr val="F5F2EB"/>
          </a:solidFill>
          <a:ln w="12700">
            <a:solidFill>
              <a:srgbClr val="D4CFC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099816" y="4590288"/>
            <a:ext cx="1417320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72968" y="470001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0E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ETL Warehouse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13148" y="4590288"/>
            <a:ext cx="1417320" cy="530352"/>
          </a:xfrm>
          <a:prstGeom prst="rect">
            <a:avLst/>
          </a:prstGeom>
          <a:solidFill>
            <a:srgbClr val="F5F2EB"/>
          </a:solidFill>
          <a:ln w="12700">
            <a:solidFill>
              <a:srgbClr val="D4CFC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13148" y="4590288"/>
            <a:ext cx="1417320" cy="91440"/>
          </a:xfrm>
          <a:prstGeom prst="rect">
            <a:avLst/>
          </a:prstGeom>
          <a:solidFill>
            <a:srgbClr val="2F6BC8"/>
          </a:solidFill>
          <a:ln w="12700">
            <a:solidFill>
              <a:srgbClr val="2F6BC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86300" y="470001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0E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TF-IDF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126480" y="4590288"/>
            <a:ext cx="1417320" cy="530352"/>
          </a:xfrm>
          <a:prstGeom prst="rect">
            <a:avLst/>
          </a:prstGeom>
          <a:solidFill>
            <a:srgbClr val="F5F2EB"/>
          </a:solidFill>
          <a:ln w="12700">
            <a:solidFill>
              <a:srgbClr val="D4CFC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26480" y="4590288"/>
            <a:ext cx="1417320" cy="91440"/>
          </a:xfrm>
          <a:prstGeom prst="rect">
            <a:avLst/>
          </a:prstGeom>
          <a:solidFill>
            <a:srgbClr val="C84B2F"/>
          </a:solidFill>
          <a:ln w="12700">
            <a:solidFill>
              <a:srgbClr val="C84B2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99632" y="470001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0E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 Cosine Similarity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639812" y="4590288"/>
            <a:ext cx="1417320" cy="530352"/>
          </a:xfrm>
          <a:prstGeom prst="rect">
            <a:avLst/>
          </a:prstGeom>
          <a:solidFill>
            <a:srgbClr val="F5F2EB"/>
          </a:solidFill>
          <a:ln w="12700">
            <a:solidFill>
              <a:srgbClr val="D4CFC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639812" y="4590288"/>
            <a:ext cx="1417320" cy="91440"/>
          </a:xfrm>
          <a:prstGeom prst="rect">
            <a:avLst/>
          </a:prstGeom>
          <a:solidFill>
            <a:srgbClr val="2D6B2D"/>
          </a:solidFill>
          <a:ln w="12700">
            <a:solidFill>
              <a:srgbClr val="2D6B2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12964" y="470001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0E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 FastAPI Output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5F2EB"/>
          </a:solidFill>
          <a:ln w="12700">
            <a:solidFill>
              <a:srgbClr val="D4CF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97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0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Paper</a:t>
            </a:r>
            <a:r>
              <a:rPr lang="en-US" sz="1200" b="1" dirty="0">
                <a:solidFill>
                  <a:srgbClr val="C84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286000" y="1554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7A7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EXTRACTION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E0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Scraping with Scrapy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0"/>
          </a:xfrm>
          <a:prstGeom prst="line">
            <a:avLst/>
          </a:prstGeom>
          <a:noFill/>
          <a:ln w="12700">
            <a:solidFill>
              <a:srgbClr val="D4CF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207008"/>
            <a:ext cx="4206240" cy="3611880"/>
          </a:xfrm>
          <a:prstGeom prst="rect">
            <a:avLst/>
          </a:prstGeom>
          <a:solidFill>
            <a:srgbClr val="FAF8F3"/>
          </a:solidFill>
          <a:ln w="12700">
            <a:solidFill>
              <a:srgbClr val="D4CF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207008"/>
            <a:ext cx="50292" cy="3611880"/>
          </a:xfrm>
          <a:prstGeom prst="rect">
            <a:avLst/>
          </a:prstGeom>
          <a:solidFill>
            <a:srgbClr val="2F6BC8"/>
          </a:solidFill>
          <a:ln w="12700">
            <a:solidFill>
              <a:srgbClr val="2F6B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2801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F6B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Spider Architecture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1609344"/>
            <a:ext cx="388620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arxiv.org — both spiders set allowed_domains=['arxiv.org']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Spider class: CrawlSpider  ·  name='rescrawler' / 'res3crawler'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 (parse): LinkExtractor(allow=r'/abs/\d{4}.\d+') → triggers callback parse_item / parse_paper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 (navigate): /archive/, /list/, /year/ → follow=True, no callback — pure navigation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2 adds legacy pattern r'/abs/[a-zA-Z-.]+/\d+' for older arXiv IDs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selectors extract all fields directly from each abstract page HTML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207008"/>
            <a:ext cx="4206240" cy="3611880"/>
          </a:xfrm>
          <a:prstGeom prst="rect">
            <a:avLst/>
          </a:prstGeom>
          <a:solidFill>
            <a:srgbClr val="FAF8F3"/>
          </a:solidFill>
          <a:ln w="12700">
            <a:solidFill>
              <a:srgbClr val="D4CF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207008"/>
            <a:ext cx="50292" cy="3611880"/>
          </a:xfrm>
          <a:prstGeom prst="rect">
            <a:avLst/>
          </a:prstGeom>
          <a:solidFill>
            <a:srgbClr val="C84B2F"/>
          </a:solidFill>
          <a:ln w="12700">
            <a:solidFill>
              <a:srgbClr val="C84B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12801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84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Extracted Fields (per paper)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9472" y="160934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36792" y="16093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response.url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19472" y="192938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36792" y="192938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h1.title.mathjax::text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19472" y="224942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36792" y="22494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div.authors a::text  (list)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19472" y="25694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36792" y="25694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blockquote.abstract.mathjax::text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19472" y="28895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36792" y="28895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h1::text → split('&gt;')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19472" y="320954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Subject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36792" y="32095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span.primary-subject::text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19472" y="352958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36792" y="352958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td.tablecell.subjects::text → split(';')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19472" y="384962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36792" y="38496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div.dateline::text → stripped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19472" y="41696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of Paper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336792" y="41696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a#latexml-download-link::attr(href)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19472" y="44897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of PDF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336792" y="44897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a.abs-button.download-pdf::attr(href)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5F2EB"/>
          </a:solidFill>
          <a:ln w="12700">
            <a:solidFill>
              <a:srgbClr val="D4CF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97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0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Paper</a:t>
            </a:r>
            <a:r>
              <a:rPr lang="en-US" sz="1200" b="1" dirty="0">
                <a:solidFill>
                  <a:srgbClr val="C84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011680" y="155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7A7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PREPROCESSING &amp; CLEANING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E0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preprocessing.py — Cleaning, Dedup &amp; Feature Building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0"/>
          </a:xfrm>
          <a:prstGeom prst="line">
            <a:avLst/>
          </a:prstGeom>
          <a:noFill/>
          <a:ln w="12700">
            <a:solidFill>
              <a:srgbClr val="D4CF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207008"/>
            <a:ext cx="2852928" cy="1783080"/>
          </a:xfrm>
          <a:prstGeom prst="rect">
            <a:avLst/>
          </a:prstGeom>
          <a:solidFill>
            <a:srgbClr val="FAF8F3"/>
          </a:solidFill>
          <a:ln w="12700">
            <a:solidFill>
              <a:srgbClr val="D4CF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207008"/>
            <a:ext cx="50292" cy="178308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298448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B5E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 CLEANING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9768" y="1609344"/>
            <a:ext cx="261518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 all fields via str.lower()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[^a-z0-9\s] → replaces non-alphanumeric with space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 \s+ → single space, strip()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to: title, description, primary_subject, category, authors, subjects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207008"/>
            <a:ext cx="2852928" cy="1783080"/>
          </a:xfrm>
          <a:prstGeom prst="rect">
            <a:avLst/>
          </a:prstGeom>
          <a:solidFill>
            <a:srgbClr val="FAF8F3"/>
          </a:solidFill>
          <a:ln w="12700">
            <a:solidFill>
              <a:srgbClr val="D4CF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207008"/>
            <a:ext cx="50292" cy="1783080"/>
          </a:xfrm>
          <a:prstGeom prst="rect">
            <a:avLst/>
          </a:prstGeom>
          <a:solidFill>
            <a:srgbClr val="C84B2F"/>
          </a:solidFill>
          <a:ln w="12700">
            <a:solidFill>
              <a:srgbClr val="C84B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01568" y="1298448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84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DEDUP &amp; NULLS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01568" y="1609344"/>
            <a:ext cx="261518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1: drop_duplicates(subset=['title','description'])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dropna(how='all') — removes fully empty rows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2: drop_duplicates(subset=['title'])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removed count at each step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72200" y="1207008"/>
            <a:ext cx="2852928" cy="1783080"/>
          </a:xfrm>
          <a:prstGeom prst="rect">
            <a:avLst/>
          </a:prstGeom>
          <a:solidFill>
            <a:srgbClr val="FAF8F3"/>
          </a:solidFill>
          <a:ln w="12700">
            <a:solidFill>
              <a:srgbClr val="D4CF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1207008"/>
            <a:ext cx="50292" cy="1783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1298448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DATE PARSING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3368" y="1609344"/>
            <a:ext cx="261518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pd.to_datetime(df['date'], errors='coerce')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year + month as separate columns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years filled with median year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future year-based filtering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3108960"/>
            <a:ext cx="4206240" cy="1664208"/>
          </a:xfrm>
          <a:prstGeom prst="rect">
            <a:avLst/>
          </a:prstGeom>
          <a:solidFill>
            <a:srgbClr val="FAF8F3"/>
          </a:solidFill>
          <a:ln w="12700">
            <a:solidFill>
              <a:srgbClr val="D4CF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3108960"/>
            <a:ext cx="50292" cy="1664208"/>
          </a:xfrm>
          <a:prstGeom prst="rect">
            <a:avLst/>
          </a:prstGeom>
          <a:solidFill>
            <a:srgbClr val="2D6B2D"/>
          </a:solidFill>
          <a:ln w="12700">
            <a:solidFill>
              <a:srgbClr val="2D6B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31821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6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 Field Parsing  (authors &amp; subjects)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38912" y="3502152"/>
            <a:ext cx="384048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ast.literal_eval() safely parses authors &amp; subjects stored as Python list strings in CSV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 joined → authors_clean  ·  Subjects joined → subjects_clean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3108960"/>
            <a:ext cx="4206240" cy="1664208"/>
          </a:xfrm>
          <a:prstGeom prst="rect">
            <a:avLst/>
          </a:prstGeom>
          <a:solidFill>
            <a:srgbClr val="FAF8F3"/>
          </a:solidFill>
          <a:ln w="12700">
            <a:solidFill>
              <a:srgbClr val="D4CFC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108960"/>
            <a:ext cx="50292" cy="1664208"/>
          </a:xfrm>
          <a:prstGeom prst="rect">
            <a:avLst/>
          </a:prstGeom>
          <a:solidFill>
            <a:srgbClr val="2F6BC8"/>
          </a:solidFill>
          <a:ln w="12700">
            <a:solidFill>
              <a:srgbClr val="2F6B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31821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F6B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clean_text  =  Combined Feature String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19472" y="350215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4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  +  description  +  primary_subject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4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category  +  authors_clean  +  subjects_clean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19472" y="418795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Stored as 'clean_text' column · Single input to TF-IDF vectorizer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5F2EB"/>
          </a:solidFill>
          <a:ln w="12700">
            <a:solidFill>
              <a:srgbClr val="D4CF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97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0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Paper</a:t>
            </a:r>
            <a:r>
              <a:rPr lang="en-US" sz="1200" b="1" dirty="0">
                <a:solidFill>
                  <a:srgbClr val="C84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0" y="73152"/>
            <a:ext cx="2011680" cy="274320"/>
          </a:xfrm>
          <a:prstGeom prst="rect">
            <a:avLst/>
          </a:prstGeom>
          <a:solidFill>
            <a:srgbClr val="C84B2F"/>
          </a:solidFill>
          <a:ln w="12700">
            <a:solidFill>
              <a:srgbClr val="C84B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731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  MAIN FOCUS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5486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E0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TF-IDF Vectorization  —  recommender.py  /  app.py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8595360" cy="0"/>
          </a:xfrm>
          <a:prstGeom prst="line">
            <a:avLst/>
          </a:prstGeom>
          <a:noFill/>
          <a:ln w="12700">
            <a:solidFill>
              <a:srgbClr val="D4CF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188720"/>
            <a:ext cx="8686800" cy="658368"/>
          </a:xfrm>
          <a:prstGeom prst="rect">
            <a:avLst/>
          </a:prstGeom>
          <a:solidFill>
            <a:srgbClr val="E8E3D8"/>
          </a:solidFill>
          <a:ln w="12700">
            <a:solidFill>
              <a:srgbClr val="D4CF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344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4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TF-IDF(t, d)  =  TF(t, d)  ×  IDF(t)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5361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TF = count(t in d) / total_tokens(d)     |     IDF = log( N / df(t) 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1965960"/>
            <a:ext cx="4206240" cy="2834640"/>
          </a:xfrm>
          <a:prstGeom prst="rect">
            <a:avLst/>
          </a:prstGeom>
          <a:solidFill>
            <a:srgbClr val="FAF8F3"/>
          </a:solidFill>
          <a:ln w="12700">
            <a:solidFill>
              <a:srgbClr val="D4CF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1965960"/>
            <a:ext cx="50292" cy="2834640"/>
          </a:xfrm>
          <a:prstGeom prst="rect">
            <a:avLst/>
          </a:prstGeom>
          <a:solidFill>
            <a:srgbClr val="2D6B2D"/>
          </a:solidFill>
          <a:ln w="12700">
            <a:solidFill>
              <a:srgbClr val="2D6B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0482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6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TF-IDF Does in This Project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" y="2377440"/>
            <a:ext cx="385876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TfidfVectorizer fitted on all 297,357 clean_text rows from SQLite DB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capped at max_features=10000 — top 10k informative terms kept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stop_words='english' removes 'the', 'and', 'of' etc. automatically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sparse matrix [297357 × 10000] — each row = one paper's TF-IDF vector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terms ('variational autoencoder', 'eigenvalue') get high IDF weight; common terms suppressed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1965960"/>
            <a:ext cx="4206240" cy="1536192"/>
          </a:xfrm>
          <a:prstGeom prst="rect">
            <a:avLst/>
          </a:prstGeom>
          <a:solidFill>
            <a:srgbClr val="FAF8F3"/>
          </a:solidFill>
          <a:ln w="12700">
            <a:solidFill>
              <a:srgbClr val="D4CF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1965960"/>
            <a:ext cx="50292" cy="1536192"/>
          </a:xfrm>
          <a:prstGeom prst="rect">
            <a:avLst/>
          </a:prstGeom>
          <a:solidFill>
            <a:srgbClr val="2F6BC8"/>
          </a:solidFill>
          <a:ln w="12700">
            <a:solidFill>
              <a:srgbClr val="2F6B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9472" y="20482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F6B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 (recommender.py + app.py)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28032" y="2359152"/>
            <a:ext cx="39776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0E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vectorizer = TfidfVectorizer(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E0E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max_features=10000,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E0E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stop_words='english'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E0E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E0E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tfidf_matrix = vectorizer.fit_transform(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E0E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df['clean_text'].fillna('')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E0E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3611880"/>
            <a:ext cx="4206240" cy="1188720"/>
          </a:xfrm>
          <a:prstGeom prst="rect">
            <a:avLst/>
          </a:prstGeom>
          <a:solidFill>
            <a:srgbClr val="FAF8F3"/>
          </a:solidFill>
          <a:ln w="12700">
            <a:solidFill>
              <a:srgbClr val="D4CF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611880"/>
            <a:ext cx="50292" cy="118872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36941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B5E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TF-IDF for This Task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19472" y="4005072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training needed — interpretable, lightweight, instant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Boosts rare domain terms over common noise words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for multi-field combined text (6 fields merged)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5F2EB"/>
          </a:solidFill>
          <a:ln w="12700">
            <a:solidFill>
              <a:srgbClr val="D4CF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97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0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Paper</a:t>
            </a:r>
            <a:r>
              <a:rPr lang="en-US" sz="1200" b="1" dirty="0">
                <a:solidFill>
                  <a:srgbClr val="C84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675120" y="64008"/>
            <a:ext cx="2240280" cy="29260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0" y="6400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ENHANCEMENT  —  app_bert.py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74320" y="54864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E0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BERT Semantic Search  —  sentence-transformers / all-MiniLM-L6-v2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274320" y="1078992"/>
            <a:ext cx="8595360" cy="0"/>
          </a:xfrm>
          <a:prstGeom prst="line">
            <a:avLst/>
          </a:prstGeom>
          <a:noFill/>
          <a:ln w="12700">
            <a:solidFill>
              <a:srgbClr val="D4CF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152144"/>
            <a:ext cx="4315968" cy="530352"/>
          </a:xfrm>
          <a:prstGeom prst="rect">
            <a:avLst/>
          </a:prstGeom>
          <a:solidFill>
            <a:srgbClr val="F9EDE8"/>
          </a:solidFill>
          <a:ln w="12700">
            <a:solidFill>
              <a:srgbClr val="E8C9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16152"/>
            <a:ext cx="4133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4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TF-IDF:  search('autonomous driving')  misses paper titled 'self-driving cars'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99432" y="1152144"/>
            <a:ext cx="4315968" cy="530352"/>
          </a:xfrm>
          <a:prstGeom prst="rect">
            <a:avLst/>
          </a:prstGeom>
          <a:solidFill>
            <a:srgbClr val="EBF0FA"/>
          </a:solidFill>
          <a:ln w="12700">
            <a:solidFill>
              <a:srgbClr val="C0CD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1216152"/>
            <a:ext cx="4133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F6B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BERT:  'autonomous driving' ~ 'self-driving cars'  -&gt;  correctly retrieved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1792224"/>
            <a:ext cx="4206240" cy="3035808"/>
          </a:xfrm>
          <a:prstGeom prst="rect">
            <a:avLst/>
          </a:prstGeom>
          <a:solidFill>
            <a:srgbClr val="FAF8F3"/>
          </a:solidFill>
          <a:ln w="12700">
            <a:solidFill>
              <a:srgbClr val="D4CF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792224"/>
            <a:ext cx="50292" cy="303580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18653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E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BERT Works  (from app_bert.py)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8912" y="2194560"/>
            <a:ext cx="256032" cy="20116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19456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49808" y="21945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DataFrame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49808" y="240487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F6B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pickle.load(df_path)  or  pd.read_sql('SELECT * FROM papers', conn)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49808" y="2560320"/>
            <a:ext cx="3566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Caches to papers_df.pkl after first DB load — reloads in ~5s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38912" y="2715768"/>
            <a:ext cx="256032" cy="20116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271576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49808" y="271576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Model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49808" y="292608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F6B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SentenceTransformer('all-MiniLM-L6-v2')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49808" y="3081528"/>
            <a:ext cx="3566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22M-param BERT variant — fast &amp; accurate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38912" y="3236976"/>
            <a:ext cx="256032" cy="20116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23697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49808" y="32369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Embeddings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49808" y="3447288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F6B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model.encode(df['clean_text'], batch_size=256)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49808" y="3602736"/>
            <a:ext cx="3566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mins on GPU (Kaggle) — saved to bert_embeddings.pkl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38912" y="3758184"/>
            <a:ext cx="256032" cy="20116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375818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49808" y="375818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at Runtime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49808" y="396849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F6B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model.encode([cleaned_query])  -&gt;  [1 x 384]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49808" y="4123944"/>
            <a:ext cx="3566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clean_query() as TF-IDF pipeline — consistent cleaning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38912" y="4279392"/>
            <a:ext cx="256032" cy="20116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" y="427939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49808" y="42793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&amp; Return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49808" y="4489704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F6B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cosine_similarity(q_vec, embeddings).argsort()[::-1][:10]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49808" y="4645152"/>
            <a:ext cx="3566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&lt; 0.01 filtered  ·  /recommend on port 8001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663440" y="1792224"/>
            <a:ext cx="4251960" cy="1938528"/>
          </a:xfrm>
          <a:prstGeom prst="rect">
            <a:avLst/>
          </a:prstGeom>
          <a:solidFill>
            <a:srgbClr val="FAF8F3"/>
          </a:solidFill>
          <a:ln w="12700">
            <a:solidFill>
              <a:srgbClr val="D4CFC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63440" y="1792224"/>
            <a:ext cx="50292" cy="1938528"/>
          </a:xfrm>
          <a:prstGeom prst="rect">
            <a:avLst/>
          </a:prstGeom>
          <a:solidFill>
            <a:srgbClr val="2F6BC8"/>
          </a:solidFill>
          <a:ln w="12700">
            <a:solidFill>
              <a:srgbClr val="2F6BC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64608" y="18653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B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TF-IDF  vs  BERT  —  Key Differences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4663440" y="2148840"/>
            <a:ext cx="4251960" cy="219456"/>
          </a:xfrm>
          <a:prstGeom prst="rect">
            <a:avLst/>
          </a:prstGeom>
          <a:solidFill>
            <a:srgbClr val="E8E3D8"/>
          </a:solidFill>
          <a:ln w="12700">
            <a:solidFill>
              <a:srgbClr val="D4CFC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73168" y="216712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007608" y="21671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4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TF-IDF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379208" y="216712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6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BERT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773168" y="240030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007608" y="24003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E0E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Sparse [10k]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379208" y="24003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6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 [384]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663440" y="2615184"/>
            <a:ext cx="4251960" cy="219456"/>
          </a:xfrm>
          <a:prstGeom prst="rect">
            <a:avLst/>
          </a:prstGeom>
          <a:solidFill>
            <a:srgbClr val="F0EDE6"/>
          </a:solidFill>
          <a:ln w="12700">
            <a:solidFill>
              <a:srgbClr val="D4CFC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73168" y="263347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007608" y="26334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E0E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Exact keywords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379208" y="26334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6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 meaning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773168" y="286664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Synonyms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007608" y="286664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E0E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Fails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379208" y="286664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6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Handles naturally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663440" y="3081528"/>
            <a:ext cx="4251960" cy="219456"/>
          </a:xfrm>
          <a:prstGeom prst="rect">
            <a:avLst/>
          </a:prstGeom>
          <a:solidFill>
            <a:srgbClr val="F0EDE6"/>
          </a:solidFill>
          <a:ln w="12700">
            <a:solidFill>
              <a:srgbClr val="D4CFC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73168" y="309981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007608" y="309981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E0E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Instant query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379208" y="309981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6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 (pkl cached)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4773168" y="333298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needed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007608" y="333298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E0E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7379208" y="33329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6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Build-time only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663440" y="3547872"/>
            <a:ext cx="4251960" cy="219456"/>
          </a:xfrm>
          <a:prstGeom prst="rect">
            <a:avLst/>
          </a:prstGeom>
          <a:solidFill>
            <a:srgbClr val="F0EDE6"/>
          </a:solidFill>
          <a:ln w="12700">
            <a:solidFill>
              <a:srgbClr val="D4CFC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73168" y="356616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007608" y="35661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E0E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 in RAM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7379208" y="35661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6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bert_embeddings.pkl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663440" y="3840480"/>
            <a:ext cx="4315968" cy="1303020"/>
          </a:xfrm>
          <a:prstGeom prst="rect">
            <a:avLst/>
          </a:prstGeom>
          <a:solidFill>
            <a:srgbClr val="FAF8F3"/>
          </a:solidFill>
          <a:ln w="12700">
            <a:solidFill>
              <a:srgbClr val="D4CFC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663440" y="3840480"/>
            <a:ext cx="50292" cy="987552"/>
          </a:xfrm>
          <a:prstGeom prst="rect">
            <a:avLst/>
          </a:prstGeom>
          <a:solidFill>
            <a:srgbClr val="2D6B2D"/>
          </a:solidFill>
          <a:ln w="12700">
            <a:solidFill>
              <a:srgbClr val="2D6B2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64608" y="384048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6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Benefits Implemented in app_bert.py</a:t>
            </a:r>
            <a:endParaRPr lang="en-US" sz="1150" dirty="0"/>
          </a:p>
        </p:txBody>
      </p:sp>
      <p:sp>
        <p:nvSpPr>
          <p:cNvPr id="71" name="Text 69"/>
          <p:cNvSpPr/>
          <p:nvPr/>
        </p:nvSpPr>
        <p:spPr>
          <a:xfrm>
            <a:off x="4773168" y="4306121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caching — pkl for both DataFrame &amp; embeddings avoids recomputing 297k vectors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clean_query() pipeline ensures consistent preprocessing as TF-IDF app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filter (score &lt; 0.01) prevents meaningless results from appearing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5F2EB"/>
          </a:solidFill>
          <a:ln w="12700">
            <a:solidFill>
              <a:srgbClr val="D4CF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97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0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Paper</a:t>
            </a:r>
            <a:r>
              <a:rPr lang="en-US" sz="1200" b="1" dirty="0">
                <a:solidFill>
                  <a:srgbClr val="C84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286000" y="1554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7A7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COSINE SIMILARITY &amp; OUTPUT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E0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Cosine Similarity &amp; Final Output  —  recommender.py  /  app.py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0"/>
          </a:xfrm>
          <a:prstGeom prst="line">
            <a:avLst/>
          </a:prstGeom>
          <a:noFill/>
          <a:ln w="12700">
            <a:solidFill>
              <a:srgbClr val="D4CF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88720"/>
            <a:ext cx="8686800" cy="566928"/>
          </a:xfrm>
          <a:prstGeom prst="rect">
            <a:avLst/>
          </a:prstGeom>
          <a:solidFill>
            <a:srgbClr val="E8E3D8"/>
          </a:solidFill>
          <a:ln w="12700">
            <a:solidFill>
              <a:srgbClr val="D4CF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16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84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cosine_similarity(A, B)  =  (A · B) / (‖A‖ × ‖B‖)     →     score ∈ [0, 1]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14996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0 → no shared terms   |   Score = 1 → identical TF-IDF distributions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8600" y="1865376"/>
            <a:ext cx="1353312" cy="932688"/>
          </a:xfrm>
          <a:prstGeom prst="rect">
            <a:avLst/>
          </a:prstGeom>
          <a:solidFill>
            <a:srgbClr val="FAF8F3"/>
          </a:solidFill>
          <a:ln w="12700">
            <a:solidFill>
              <a:srgbClr val="D4CF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865376"/>
            <a:ext cx="1353312" cy="73152"/>
          </a:xfrm>
          <a:prstGeom prst="rect">
            <a:avLst/>
          </a:prstGeom>
          <a:solidFill>
            <a:srgbClr val="2F6BC8"/>
          </a:solidFill>
          <a:ln w="12700">
            <a:solidFill>
              <a:srgbClr val="2F6B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" y="1956816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6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1752" y="235915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"graph neural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A7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networks"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2185416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691640" y="1865376"/>
            <a:ext cx="1353312" cy="932688"/>
          </a:xfrm>
          <a:prstGeom prst="rect">
            <a:avLst/>
          </a:prstGeom>
          <a:solidFill>
            <a:srgbClr val="FAF8F3"/>
          </a:solidFill>
          <a:ln w="12700">
            <a:solidFill>
              <a:srgbClr val="D4CF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91640" y="1865376"/>
            <a:ext cx="1353312" cy="73152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64792" y="1956816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clean_query()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64792" y="235915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lowercase +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A7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regex + len&gt;2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971800" y="2185416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154680" y="1865376"/>
            <a:ext cx="1353312" cy="932688"/>
          </a:xfrm>
          <a:prstGeom prst="rect">
            <a:avLst/>
          </a:prstGeom>
          <a:solidFill>
            <a:srgbClr val="FAF8F3"/>
          </a:solidFill>
          <a:ln w="12700">
            <a:solidFill>
              <a:srgbClr val="D4CF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54680" y="1865376"/>
            <a:ext cx="1353312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27832" y="1956816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vectorizer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.transform()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27832" y="235915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sparse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A7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 × 10000]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434840" y="2185416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17720" y="1865376"/>
            <a:ext cx="1353312" cy="932688"/>
          </a:xfrm>
          <a:prstGeom prst="rect">
            <a:avLst/>
          </a:prstGeom>
          <a:solidFill>
            <a:srgbClr val="FAF8F3"/>
          </a:solidFill>
          <a:ln w="12700">
            <a:solidFill>
              <a:srgbClr val="D4CFC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1865376"/>
            <a:ext cx="1353312" cy="73152"/>
          </a:xfrm>
          <a:prstGeom prst="rect">
            <a:avLst/>
          </a:prstGeom>
          <a:solidFill>
            <a:srgbClr val="2D6B2D"/>
          </a:solidFill>
          <a:ln w="12700">
            <a:solidFill>
              <a:srgbClr val="2D6B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90872" y="1956816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cosine_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D6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similarity()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90872" y="235915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 [297357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A7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 10000]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897880" y="2185416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080760" y="1865376"/>
            <a:ext cx="1353312" cy="932688"/>
          </a:xfrm>
          <a:prstGeom prst="rect">
            <a:avLst/>
          </a:prstGeom>
          <a:solidFill>
            <a:srgbClr val="FAF8F3"/>
          </a:solidFill>
          <a:ln w="12700">
            <a:solidFill>
              <a:srgbClr val="D4CFC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0760" y="1865376"/>
            <a:ext cx="1353312" cy="73152"/>
          </a:xfrm>
          <a:prstGeom prst="rect">
            <a:avLst/>
          </a:prstGeom>
          <a:solidFill>
            <a:srgbClr val="C84B2F"/>
          </a:solidFill>
          <a:ln w="12700">
            <a:solidFill>
              <a:srgbClr val="C84B2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53912" y="1956816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argsort()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C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[::-1][:10]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53912" y="235915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Top-10 by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A7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descending score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360920" y="2185416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543800" y="1865376"/>
            <a:ext cx="1353312" cy="932688"/>
          </a:xfrm>
          <a:prstGeom prst="rect">
            <a:avLst/>
          </a:prstGeom>
          <a:solidFill>
            <a:srgbClr val="FAF8F3"/>
          </a:solidFill>
          <a:ln w="12700">
            <a:solidFill>
              <a:srgbClr val="D4CFC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43800" y="1865376"/>
            <a:ext cx="1353312" cy="73152"/>
          </a:xfrm>
          <a:prstGeom prst="rect">
            <a:avLst/>
          </a:prstGeom>
          <a:solidFill>
            <a:srgbClr val="2F6BC8"/>
          </a:solidFill>
          <a:ln w="12700">
            <a:solidFill>
              <a:srgbClr val="2F6BC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16952" y="1956816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6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F6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616952" y="235915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title, score,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A7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PDF link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28600" y="2926080"/>
            <a:ext cx="4206240" cy="1920240"/>
          </a:xfrm>
          <a:prstGeom prst="rect">
            <a:avLst/>
          </a:prstGeom>
          <a:solidFill>
            <a:srgbClr val="FAF8F3"/>
          </a:solidFill>
          <a:ln w="12700">
            <a:solidFill>
              <a:srgbClr val="D4CFC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28600" y="2926080"/>
            <a:ext cx="50292" cy="1920240"/>
          </a:xfrm>
          <a:prstGeom prst="rect">
            <a:avLst/>
          </a:prstGeom>
          <a:solidFill>
            <a:srgbClr val="2D6B2D"/>
          </a:solidFill>
          <a:ln w="12700">
            <a:solidFill>
              <a:srgbClr val="2D6B2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8912" y="29992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6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Similarity is Computed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38912" y="3337560"/>
            <a:ext cx="385876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query_vec = vectorizer.transform([cleaned_query]) — uses same fitted vocabulary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= cosine_similarity(query_vec, tfidf_matrix).flatten() → shape [297357]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top_indices = scores.argsort()[::-1][:10] — numpy descending sort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&lt; 0.01 filtered out — prevents zero-match papers appearing in results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709160" y="2926080"/>
            <a:ext cx="4206240" cy="1920240"/>
          </a:xfrm>
          <a:prstGeom prst="rect">
            <a:avLst/>
          </a:prstGeom>
          <a:solidFill>
            <a:srgbClr val="FAF8F3"/>
          </a:solidFill>
          <a:ln w="12700">
            <a:solidFill>
              <a:srgbClr val="D4CFC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09160" y="2926080"/>
            <a:ext cx="50292" cy="1920240"/>
          </a:xfrm>
          <a:prstGeom prst="rect">
            <a:avLst/>
          </a:prstGeom>
          <a:solidFill>
            <a:srgbClr val="C84B2F"/>
          </a:solidFill>
          <a:ln w="12700">
            <a:solidFill>
              <a:srgbClr val="C84B2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19472" y="29992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84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Output Fields  (JSON → PaperLens UI)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919472" y="3337560"/>
            <a:ext cx="385876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authors, category, primary_subject, subjects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(abstract) — shown as blockquote in PaperLens card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(arXiv abs page), link_of_paper (LaTeXML), link_of_pdf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(float, 4 dp) → displayed as % match badge in UI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1287</Words>
  <Application>Microsoft Office PowerPoint</Application>
  <PresentationFormat>On-screen Show (16:9)</PresentationFormat>
  <Paragraphs>202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PaperLens — Research Paper Recommender</dc:title>
  <dc:subject>PptxGenJS Presentation</dc:subject>
  <dc:creator>PptxGenJS</dc:creator>
  <cp:lastModifiedBy>vadthyavathsriram4@outlook.com</cp:lastModifiedBy>
  <cp:revision>2</cp:revision>
  <dcterms:created xsi:type="dcterms:W3CDTF">2026-04-28T05:03:10Z</dcterms:created>
  <dcterms:modified xsi:type="dcterms:W3CDTF">2026-04-28T06:29:28Z</dcterms:modified>
</cp:coreProperties>
</file>